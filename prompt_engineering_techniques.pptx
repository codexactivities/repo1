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5486400" cy="5486400"/>
          </a:xfrm>
          <a:prstGeom prst="ellipse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0" y="4572000"/>
            <a:ext cx="2286000" cy="2286000"/>
          </a:xfrm>
          <a:prstGeom prst="ellipse">
            <a:avLst/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PROMPT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F2F4F8"/>
                </a:solidFill>
                <a:latin typeface="Calibri"/>
              </a:rPr>
              <a:t>Малоизвестные техники,</a:t>
            </a:r>
          </a:p>
          <a:p>
            <a:pPr algn="l">
              <a:lnSpc>
                <a:spcPct val="105000"/>
              </a:lnSpc>
            </a:pPr>
            <a:r>
              <a:rPr sz="4600" b="1">
                <a:solidFill>
                  <a:srgbClr val="F2F4F8"/>
                </a:solidFill>
                <a:latin typeface="Calibri"/>
              </a:rPr>
              <a:t>которые реально работают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AA4B8"/>
                </a:solidFill>
                <a:latin typeface="Calibri"/>
              </a:rPr>
              <a:t>12 приёмов с примерами «до / после» и объяснением, почему они работают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8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Prefilling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39112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Начните ответ за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3258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463040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1737360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Recency anchoring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039112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Главное — в конец промта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3258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1463040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5904" y="1737360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Re-read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4" y="2039112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Заставьте модель перечитать задачу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624328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761488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035808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Quantity →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337560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20 идей, потом топ-3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5112" y="2624328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2761488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035808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Anti-sycophancy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3337560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Отключаем подхалимство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47304" y="2624328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2761488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5904" y="3035808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Structured XML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5904" y="3337560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Теги вместо тройных кавычек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22776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059936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334256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Negative few-shot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636008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Покажите, как НЕ надо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25112" y="3922776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53712" y="4059936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334256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Chain of Density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636008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Сжатие без потерь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47304" y="3922776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75904" y="4059936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75904" y="4334256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Self-ask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5904" y="4636008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Декомпозиция на под-вопросы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221224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358384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632704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Reverse prompting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934456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Реверс-инжиниринг идеала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25112" y="5221224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53712" y="5358384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53712" y="5632704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Explicit uncertainty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934456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Разрешите «не знаю»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47304" y="5221224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75904" y="5358384"/>
            <a:ext cx="10972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7A3D"/>
                </a:solidFill>
                <a:latin typeface="Calibri"/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75904" y="5632704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2F4F8"/>
                </a:solidFill>
                <a:latin typeface="Calibri"/>
              </a:rPr>
              <a:t>Temperature по задаче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75904" y="5934456"/>
            <a:ext cx="329184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0 — извлечение, 0.7 — идеи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Prefilling: начните ответ за модель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Один из самых недооценённых трюков. Работает в Claude API, OpenAI (через assistant prefix), локальных моделях.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8229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7A3D"/>
                </a:solidFill>
                <a:latin typeface="Calibri"/>
              </a:rPr>
              <a:t>ПОЧЕМУ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98755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2F4F8"/>
                </a:solidFill>
                <a:latin typeface="Calibri"/>
              </a:rPr>
              <a:t>Модель продолжает паттерн. Если вы начали ответ с «{», она продолжит JSON. Если с «1.» — продолжит список. Преамбулы и оправдания исчезают.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532120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5166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6A6A"/>
                </a:solidFill>
                <a:latin typeface="Consolas"/>
              </a:rPr>
              <a:t>✕ обычный промт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81528"/>
            <a:ext cx="5166360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user: "Извлеки имя и email из текста. Верни JSON."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user: &lt;text&gt;...&lt;/text&gt;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assistant: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Конечно! Вот извлечённые данные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в формате JSON: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```json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{"name": "...", "email": "..."}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```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697480"/>
            <a:ext cx="5550408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770632"/>
            <a:ext cx="518464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✓ улучшенный промт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081528"/>
            <a:ext cx="5184648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user: "Извлеки имя и email. Верни JSON."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user: &lt;text&gt;...&lt;/text&gt;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assistant: {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модель продолжает: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"name": "Анна Петрова",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"email": "anna@example.com"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Без болтовни. Парсится сразу.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Recency anchoring: главное — в конец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В длинном промте модель сильнее всего «слышит» последние инструкции.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8229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7A3D"/>
                </a:solidFill>
                <a:latin typeface="Calibri"/>
              </a:rPr>
              <a:t>ПОЧЕМУ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98755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2F4F8"/>
                </a:solidFill>
                <a:latin typeface="Calibri"/>
              </a:rPr>
              <a:t>У трансформеров recency bias: при длинном контексте середина теряется (lost-in-the-middle). Последние токены влияют на ответ непропорционально сильно.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532120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5166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6A6A"/>
                </a:solidFill>
                <a:latin typeface="Consolas"/>
              </a:rPr>
              <a:t>✕ обычный промт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81528"/>
            <a:ext cx="5166360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[2000 токенов системного промта]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[10 примеров few-shot]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[документ на 5000 токенов]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В системе сказано: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"Отвечай только на русском, ≤ 200 слов."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Модель отвечает на английском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и пишет 600 слов. Инструкция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утонула в начале.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697480"/>
            <a:ext cx="5550408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770632"/>
            <a:ext cx="518464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✓ улучшенный промт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081528"/>
            <a:ext cx="5184648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[2000 токенов системного промта]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[10 примеров few-shot]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[документ на 5000 токенов]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В САМОМ КОНЦЕ user-сообщения: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"Напомню ключевые правила: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1) только русский язык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2) не более 200 слов."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Соблюдает оба правила.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Re-read: заставьте модель перечитать задачу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Добавление одной фразы повышает точность на reasoning-задачах на 5–15% (исследование Re2, 2023).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8229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7A3D"/>
                </a:solidFill>
                <a:latin typeface="Calibri"/>
              </a:rPr>
              <a:t>ПОЧЕМУ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98755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2F4F8"/>
                </a:solidFill>
                <a:latin typeface="Calibri"/>
              </a:rPr>
              <a:t>Модель «переосмысливает» условия после генерации внутреннего плана и реже теряет ограничения. Стоит 0 токенов на стороне разработчика.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532120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5166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6A6A"/>
                </a:solidFill>
                <a:latin typeface="Consolas"/>
              </a:rPr>
              <a:t>✕ обычный промт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81528"/>
            <a:ext cx="5166360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Реши задачу: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У Анны 12 яблок. Она отдала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треть Борису, затем половину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оставшегося — Вере. Сколько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осталось у Анны?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модель часто теряет один из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шагов или путает доли.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697480"/>
            <a:ext cx="5550408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770632"/>
            <a:ext cx="518464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✓ улучшенный промт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081528"/>
            <a:ext cx="5184648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Реши задачу: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У Анны 12 яблок. Она отдала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треть Борису, затем половину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оставшегося — Вере. Сколько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осталось у Анны?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Перечитай условие ещё раз,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затем реши пошагово.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устойчиво даёт правильный 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Quantity → Quality: 20 идей, потом топ-3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Просьба «дай лучшую идею» приводит к среднему. Просьба «дай 20» открывает хвост распределения.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8229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7A3D"/>
                </a:solidFill>
                <a:latin typeface="Calibri"/>
              </a:rPr>
              <a:t>ПОЧЕМУ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98755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2F4F8"/>
                </a:solidFill>
                <a:latin typeface="Calibri"/>
              </a:rPr>
              <a:t>Первые 3–5 идей — клише из обучающих данных. Идеи 10–20 — там, где живёт оригинальность. Затем модель сама фильтрует.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532120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5166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6A6A"/>
                </a:solidFill>
                <a:latin typeface="Consolas"/>
              </a:rPr>
              <a:t>✕ обычный промт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81528"/>
            <a:ext cx="5166360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Дай нейминг для приложения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для медитации.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Calm, Zen, Mindful, Serenity,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Tranquil...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Все варианты — generic.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Уже заняты или скучны.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697480"/>
            <a:ext cx="5550408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770632"/>
            <a:ext cx="518464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✓ улучшенный промт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081528"/>
            <a:ext cx="5184648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Сгенерируй 20 названий для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приложения для медитации.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Будь готов к странным.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Затем оцени их по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запоминаемости (1–10) и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выбери 3 лучших с обоснованием.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среди 20 находятся реально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свежие варианты.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Anti-sycophancy: отключаем подхалимство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Модели обучены быть приятными. Это превращает их в плохих критиков вашей работы.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8229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7A3D"/>
                </a:solidFill>
                <a:latin typeface="Calibri"/>
              </a:rPr>
              <a:t>ПОЧЕМУ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98755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2F4F8"/>
                </a:solidFill>
                <a:latin typeface="Calibri"/>
              </a:rPr>
              <a:t>RLHF поощряет согласие с пользователем. Явное разрешение «жёсткой обратной связи» и анонимизация авторства возвращают честность.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532120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5166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6A6A"/>
                </a:solidFill>
                <a:latin typeface="Consolas"/>
              </a:rPr>
              <a:t>✕ обычный промт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81528"/>
            <a:ext cx="5166360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Вот мой бизнес-план.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Что думаешь?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«Отличная идея! Сильные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стороны: ... Несколько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небольших замечаний...»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Модель сглаживает реальные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риски, чтобы вас не расстроить.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697480"/>
            <a:ext cx="5550408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770632"/>
            <a:ext cx="518464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✓ улучшенный промт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081528"/>
            <a:ext cx="5184648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Ниже — бизнес-план,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написанный НЕ мной.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Я инвестор, и мне нужна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беспощадная оценка.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Найди 5 причин, почему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это провалится. Никаких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комплиментов и хеджирования.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конкретные риски без воды.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XML-теги вместо тройных кавычек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Anthropic и OpenAI оба явно рекомендуют XML. Кавычки и markdown ломаются на вложенности.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8229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7A3D"/>
                </a:solidFill>
                <a:latin typeface="Calibri"/>
              </a:rPr>
              <a:t>ПОЧЕМУ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98755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2F4F8"/>
                </a:solidFill>
                <a:latin typeface="Calibri"/>
              </a:rPr>
              <a:t>Модели обучены на коде и HTML — теги для них естественные разделители. На длинных промтах точность извлечения данных растёт на 10–20%.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532120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5166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6A6A"/>
                </a:solidFill>
                <a:latin typeface="Consolas"/>
              </a:rPr>
              <a:t>✕ обычный промт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81528"/>
            <a:ext cx="5166360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Вот документ: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"""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Длинный текст с цитатами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и кавычками внутри...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"""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Ответь на вопрос: ...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модель путает, где кончается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документ. Иногда «отвечает»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на инструкции из документа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(prompt injection).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697480"/>
            <a:ext cx="5550408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770632"/>
            <a:ext cx="518464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✓ улучшенный промт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081528"/>
            <a:ext cx="5184648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&lt;document&gt;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Длинный текст с цитатами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и кавычками внутри...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&lt;/document&gt;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&lt;question&gt;...&lt;/question&gt;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&lt;instructions&gt;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Сначала найди релевантные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цитаты в &lt;quotes&gt;, затем дай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ответ в &lt;answer&gt;.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&lt;/instructions&gt;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Negative few-shot: покажите, как НЕ надо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Один негативный пример с пометкой стоит трёх позитивных.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8229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7A3D"/>
                </a:solidFill>
                <a:latin typeface="Calibri"/>
              </a:rPr>
              <a:t>ПОЧЕМУ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98755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2F4F8"/>
                </a:solidFill>
                <a:latin typeface="Calibri"/>
              </a:rPr>
              <a:t>Модель учится границе между классами, а не центром. Контраст «вот так — нет, а вот так — да» сужает пространство допустимых ответов.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532120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5166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6A6A"/>
                </a:solidFill>
                <a:latin typeface="Consolas"/>
              </a:rPr>
              <a:t>✕ обычный промт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81528"/>
            <a:ext cx="5166360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Few-shot: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Пример 1: [хороший заголовок]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Пример 2: [хороший заголовок]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Пример 3: [хороший заголовок]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Напиши заголовок для статьи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про X.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модель повторяет стиль, но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иногда уходит в кликбейт или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слишком сухо.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697480"/>
            <a:ext cx="5550408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770632"/>
            <a:ext cx="518464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✓ улучшенный промт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081528"/>
            <a:ext cx="5184648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&lt;bad&gt;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"10 шокирующих фактов..."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— причина: кликбейт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&lt;/bad&gt;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&lt;bad&gt;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"Анализ рынка СRM 2024"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— причина: скучно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&lt;/bad&gt;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&lt;good&gt;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"Почему ваш CRM теряет 30%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лидов и как это починить"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&lt;/good&gt;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Chain of Density: сжатие без потерь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Техника от Salesforce/MIT (2023). Краткие саммари становятся плотнее с каждой итерацией.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8229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7A3D"/>
                </a:solidFill>
                <a:latin typeface="Calibri"/>
              </a:rPr>
              <a:t>ПОЧЕМУ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98755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2F4F8"/>
                </a:solidFill>
                <a:latin typeface="Calibri"/>
              </a:rPr>
              <a:t>Модель пишет саммари, затем добавляет 1–3 пропущенных «сущности» БЕЗ увеличения длины. За 5 итераций плотность информации удваивается.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532120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5166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6A6A"/>
                </a:solidFill>
                <a:latin typeface="Consolas"/>
              </a:rPr>
              <a:t>✕ обычный промт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81528"/>
            <a:ext cx="5166360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Сделай краткое резюме статьи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на 80 слов.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Получаем поверхностное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изложение — упомянуты только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главные тезисы, цифры и имена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потеряны.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697480"/>
            <a:ext cx="5550408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770632"/>
            <a:ext cx="518464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✓ улучшенный промт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081528"/>
            <a:ext cx="5184648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Шаг 1: Напиши саммари (80 слов).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Шаг 2: Перечисли 1–3 важные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     сущности, которых там нет.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Шаг 3: Перепиши саммари тем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     же объёмом, включив их.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Повтори шаги 2–3 пять раз.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финальное саммари плотное,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без воды, со всеми ключевыми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фактами.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Self-ask: декомпозиция на под-вопросы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Сильнее обычного Chain-of-Thought на multi-hop вопросах (исследование Press et al., 2022).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8229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7A3D"/>
                </a:solidFill>
                <a:latin typeface="Calibri"/>
              </a:rPr>
              <a:t>ПОЧЕМУ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98755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2F4F8"/>
                </a:solidFill>
                <a:latin typeface="Calibri"/>
              </a:rPr>
              <a:t>Модель явно генерирует под-вопросы и отвечает на каждый. Это форсирует промежуточную верификацию и снижает галлюцинации.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532120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5166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6A6A"/>
                </a:solidFill>
                <a:latin typeface="Consolas"/>
              </a:rPr>
              <a:t>✕ обычный промт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81528"/>
            <a:ext cx="5166360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В каком веке родился человек,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написавший «Войну и мир»?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модель может сразу выдать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ответ, иногда ошибочный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(особенно на менее известных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фактах).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697480"/>
            <a:ext cx="5550408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770632"/>
            <a:ext cx="518464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✓ улучшенный промт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081528"/>
            <a:ext cx="5184648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Вопрос: В каком веке родился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автор «Войны и мира»?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Прежде чем ответить, задай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себе под-вопросы и ответь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на каждый: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Q1: Кто автор? → ...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Q2: Когда родился? → ...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Q3: Какой это век? → ...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Финальный ответ: 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Reverse prompting: реверс-инжиниринг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Покажите модели идеальный результат — попросите вывести промт. Затем используйте этот промт.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8229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7A3D"/>
                </a:solidFill>
                <a:latin typeface="Calibri"/>
              </a:rPr>
              <a:t>ПОЧЕМУ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98755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2F4F8"/>
                </a:solidFill>
                <a:latin typeface="Calibri"/>
              </a:rPr>
              <a:t>Модель — лучший эксперт по самой себе. Она знает, на какие формулировки реагирует. Один из самых быстрых способов получить рабочий промт.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532120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5166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6A6A"/>
                </a:solidFill>
                <a:latin typeface="Consolas"/>
              </a:rPr>
              <a:t>✕ обычный промт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81528"/>
            <a:ext cx="5166360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Долго пишете промт: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"Ты — копирайтер.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Напиши пост для LinkedIn..."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десятки итераций, ручная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настройка тона и длины,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пока результат не понравится.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697480"/>
            <a:ext cx="5550408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770632"/>
            <a:ext cx="518464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✓ улучшенный промт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081528"/>
            <a:ext cx="5184648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Вот пост из LinkedIn,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который мне нравится: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&lt;example&gt;...&lt;/example&gt;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Какой системный промт мог бы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заставить языковую модель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стабильно писать в этом стиле?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Будь конкретен: тон, структура,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длина, риторические приёмы.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получаете готовый промт,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откалиброванный под образец.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Explicit uncertainty: разрешите «не знаю»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Одна фраза снижает галлюцинации в 2–3 раза на фактологических задачах.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8229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7A3D"/>
                </a:solidFill>
                <a:latin typeface="Calibri"/>
              </a:rPr>
              <a:t>ПОЧЕМУ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98755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2F4F8"/>
                </a:solidFill>
                <a:latin typeface="Calibri"/>
              </a:rPr>
              <a:t>По умолчанию модель оптимизирует «дать ответ». Явное разрешение неопределённости делает «I don't know» допустимой стратегией.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532120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5166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6A6A"/>
                </a:solidFill>
                <a:latin typeface="Consolas"/>
              </a:rPr>
              <a:t>✕ обычный промт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81528"/>
            <a:ext cx="5166360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В каком году компания Acme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Corp была основана?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модель уверенно выдумывает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год, если не знает. Звучит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правдоподобно — самая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опасная форма галлюцинации.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697480"/>
            <a:ext cx="5550408" cy="39319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770632"/>
            <a:ext cx="518464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✓ улучшенный промт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081528"/>
            <a:ext cx="5184648" cy="34564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В каком году была основана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Acme Corp?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Если не уверен — ответь "не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знаю" и объясни, что именно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тебе мешает ответить точно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(нет данных / противоречивые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источники / неоднозначное имя).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→ честный ответ или указание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2F4F8"/>
                </a:solidFill>
                <a:latin typeface="Consolas"/>
              </a:rPr>
              <a:t>  на конкретный пробел.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Temperature под задачу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47472"/>
            <a:ext cx="141732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>
                <a:solidFill>
                  <a:srgbClr val="FF7A3D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Главный параметр, который большинство оставляют по умолчанию. А зря.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11247120" cy="841248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128016" cy="841248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146304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4ECDC4"/>
                </a:solidFill>
                <a:latin typeface="Calibri"/>
              </a:rPr>
              <a:t>0.0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901952"/>
            <a:ext cx="4023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2F4F8"/>
                </a:solidFill>
                <a:latin typeface="Calibri"/>
              </a:rPr>
              <a:t>Извлечение, парсинг, классификация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240280"/>
            <a:ext cx="896112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Детерминированно. Если запросить дважды — получите тот же ответ.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61488"/>
            <a:ext cx="11247120" cy="841248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761488"/>
            <a:ext cx="128016" cy="841248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146304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4ECDC4"/>
                </a:solidFill>
                <a:latin typeface="Calibri"/>
              </a:rPr>
              <a:t>0.2 – 0.4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834640"/>
            <a:ext cx="4023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2F4F8"/>
                </a:solidFill>
                <a:latin typeface="Calibri"/>
              </a:rPr>
              <a:t>Код, SQL, технические ответы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172968"/>
            <a:ext cx="896112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Фокус на корректность, минимум вариативности.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94176"/>
            <a:ext cx="11247120" cy="841248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94176"/>
            <a:ext cx="128016" cy="841248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85616"/>
            <a:ext cx="146304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7A3D"/>
                </a:solidFill>
                <a:latin typeface="Calibri"/>
              </a:rPr>
              <a:t>0.7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3767328"/>
            <a:ext cx="4023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2F4F8"/>
                </a:solidFill>
                <a:latin typeface="Calibri"/>
              </a:rPr>
              <a:t>Письма, копирайтинг, объяснения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4105656"/>
            <a:ext cx="896112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Дефолт. Баланс между точностью и живостью.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626864"/>
            <a:ext cx="11247120" cy="841248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626864"/>
            <a:ext cx="128016" cy="841248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718304"/>
            <a:ext cx="146304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7A3D"/>
                </a:solidFill>
                <a:latin typeface="Calibri"/>
              </a:rPr>
              <a:t>0.9 – 1.2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700016"/>
            <a:ext cx="4023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2F4F8"/>
                </a:solidFill>
                <a:latin typeface="Calibri"/>
              </a:rPr>
              <a:t>Брейнсторм, нейминг, креатив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5038344"/>
            <a:ext cx="896112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Хвост распределения. Хорошо в связке с «дай 20 вариантов».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59552"/>
            <a:ext cx="11247120" cy="841248"/>
          </a:xfrm>
          <a:prstGeom prst="roundRect">
            <a:avLst>
              <a:gd name="adj" fmla="val 6000"/>
            </a:avLst>
          </a:prstGeom>
          <a:solidFill>
            <a:srgbClr val="18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559552"/>
            <a:ext cx="128016" cy="841248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650992"/>
            <a:ext cx="146304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E86A6A"/>
                </a:solidFill>
                <a:latin typeface="Calibri"/>
              </a:rPr>
              <a:t>&gt; 1.3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5632704"/>
            <a:ext cx="4023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2F4F8"/>
                </a:solidFill>
                <a:latin typeface="Calibri"/>
              </a:rPr>
              <a:t>Только эксперименты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5971032"/>
            <a:ext cx="896112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8"/>
                </a:solidFill>
                <a:latin typeface="Calibri"/>
              </a:rPr>
              <a:t>Связность падает. Используйте top_p вместо.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950976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4F8"/>
                </a:solidFill>
                <a:latin typeface="Calibri"/>
              </a:rPr>
              <a:t>Боевая комбинация: всё вместе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78992"/>
            <a:ext cx="11247120" cy="127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ECDC4"/>
                </a:solidFill>
                <a:latin typeface="Calibri"/>
              </a:rPr>
              <a:t>Один промт, который использует 7 техник из этой презентации.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7406640" cy="4846320"/>
          </a:xfrm>
          <a:prstGeom prst="roundRect">
            <a:avLst>
              <a:gd name="adj" fmla="val 4000"/>
            </a:avLst>
          </a:prstGeom>
          <a:solidFill>
            <a:srgbClr val="0A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56232"/>
            <a:ext cx="7040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EE7B7"/>
                </a:solidFill>
                <a:latin typeface="Consolas"/>
              </a:rPr>
              <a:t>combined-prompt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7128"/>
            <a:ext cx="7040880" cy="43708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&lt;role&gt;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Ты — senior product analyst. Ты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пишешь для C-level. Краткость и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цифры важнее красноречия.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&lt;/role&gt;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&lt;data&gt;{ ... сырые метрики ... }&lt;/data&gt;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&lt;task&gt;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Найди 3 главные аномалии за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квартал. Если данные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противоречат друг другу — скажи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"данные противоречивы" вместо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догадки.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Перед ответом: перечитай &lt;data&gt;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и составь 3 под-вопроса.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Ответь на каждый, затем дай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финальный ответ.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&lt;/task&gt;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&lt;format&gt;JSON по схеме ниже.&lt;/format&gt;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assistant: {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F2F4F8"/>
                </a:solidFill>
                <a:latin typeface="Consolas"/>
              </a:rPr>
              <a:t>  "sub_questions": [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3657600" cy="603504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783080"/>
            <a:ext cx="73152" cy="603504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2880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ECDC4"/>
                </a:solidFill>
                <a:latin typeface="Calibri"/>
              </a:rPr>
              <a:t>XML-теги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075688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4B8"/>
                </a:solidFill>
                <a:latin typeface="Consolas"/>
              </a:rPr>
              <a:t>&lt;role&gt;, &lt;data&gt;, &lt;task&gt;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459736"/>
            <a:ext cx="3657600" cy="603504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2459736"/>
            <a:ext cx="73152" cy="603504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505456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ECDC4"/>
                </a:solidFill>
                <a:latin typeface="Calibri"/>
              </a:rPr>
              <a:t>Anti-sycophancy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752344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4B8"/>
                </a:solidFill>
                <a:latin typeface="Consolas"/>
              </a:rPr>
              <a:t>«пишешь для C-level, краткость»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136391"/>
            <a:ext cx="3657600" cy="603504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3136391"/>
            <a:ext cx="73152" cy="603504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182111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ECDC4"/>
                </a:solidFill>
                <a:latin typeface="Calibri"/>
              </a:rPr>
              <a:t>Recency anchoring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428999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4B8"/>
                </a:solidFill>
                <a:latin typeface="Consolas"/>
              </a:rPr>
              <a:t>правила в конце &lt;task&gt;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13048"/>
            <a:ext cx="3657600" cy="603504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2440" y="3813048"/>
            <a:ext cx="73152" cy="603504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3858768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ECDC4"/>
                </a:solidFill>
                <a:latin typeface="Calibri"/>
              </a:rPr>
              <a:t>Explicit uncertainty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105656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4B8"/>
                </a:solidFill>
                <a:latin typeface="Consolas"/>
              </a:rPr>
              <a:t>«данные противоречивы»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4489704"/>
            <a:ext cx="3657600" cy="603504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2440" y="4489704"/>
            <a:ext cx="73152" cy="603504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535424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ECDC4"/>
                </a:solidFill>
                <a:latin typeface="Calibri"/>
              </a:rPr>
              <a:t>Re-read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78231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4B8"/>
                </a:solidFill>
                <a:latin typeface="Consolas"/>
              </a:rPr>
              <a:t>«перечитай &lt;data&gt;»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5166360"/>
            <a:ext cx="3657600" cy="603504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2440" y="5166360"/>
            <a:ext cx="73152" cy="603504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52120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ECDC4"/>
                </a:solidFill>
                <a:latin typeface="Calibri"/>
              </a:rPr>
              <a:t>Self-ask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5458968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4B8"/>
                </a:solidFill>
                <a:latin typeface="Consolas"/>
              </a:rPr>
              <a:t>«составь 3 под-вопроса»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5843016"/>
            <a:ext cx="3657600" cy="603504"/>
          </a:xfrm>
          <a:prstGeom prst="roundRect">
            <a:avLst>
              <a:gd name="adj" fmla="val 6000"/>
            </a:avLst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92440" y="5843016"/>
            <a:ext cx="73152" cy="603504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5888736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ECDC4"/>
                </a:solidFill>
                <a:latin typeface="Calibri"/>
              </a:rPr>
              <a:t>Prefilling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6135624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4B8"/>
                </a:solidFill>
                <a:latin typeface="Consolas"/>
              </a:rPr>
              <a:t>assistant: { "sub_questions": [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286000"/>
            <a:ext cx="7315200" cy="7315200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0584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ECDC4"/>
                </a:solidFill>
                <a:latin typeface="Calibri"/>
              </a:rPr>
              <a:t>ГЛАВНОЕ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058400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F2F4F8"/>
                </a:solidFill>
                <a:latin typeface="Calibri"/>
              </a:rPr>
              <a:t>Маленькие фразы дают</a:t>
            </a:r>
          </a:p>
          <a:p>
            <a:pPr algn="l">
              <a:lnSpc>
                <a:spcPct val="105000"/>
              </a:lnSpc>
            </a:pPr>
            <a:r>
              <a:rPr sz="4600" b="1">
                <a:solidFill>
                  <a:srgbClr val="F2F4F8"/>
                </a:solidFill>
                <a:latin typeface="Calibri"/>
              </a:rPr>
              <a:t>большие сдвиги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9AA4B8"/>
                </a:solidFill>
                <a:latin typeface="Calibri"/>
              </a:rPr>
              <a:t>«Перечитай условие», «не уверен — скажи не знаю»,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9AA4B8"/>
                </a:solidFill>
                <a:latin typeface="Calibri"/>
              </a:rPr>
              <a:t>&lt;tags&gt;, prefill — это инженерные ручки, а не магия.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7A3D"/>
                </a:solidFill>
                <a:latin typeface="Calibri"/>
              </a:rPr>
              <a:t>Спасибо. 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