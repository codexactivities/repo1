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5156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400" b="1">
                <a:solidFill>
                  <a:srgbClr val="F5F5F5"/>
                </a:solidFill>
                <a:latin typeface="Calibri"/>
              </a:rPr>
              <a:t>Тёмная сторона промт-инженеринга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5156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0">
                <a:solidFill>
                  <a:srgbClr val="4ECDC4"/>
                </a:solidFill>
                <a:latin typeface="Calibri"/>
              </a:rPr>
              <a:t>Невероятно эффективные, но малоизвестные техники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B0B8C4"/>
                </a:solidFill>
                <a:latin typeface="Calibri"/>
              </a:rPr>
              <a:t>Практическое руководство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Calibri"/>
              </a:rPr>
              <a:t>Что внутри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1905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731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6B35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54480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Calibri"/>
              </a:rPr>
              <a:t>Почему «дай хороший промт» больше не работает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36192"/>
            <a:ext cx="731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6B35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554480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Calibri"/>
              </a:rPr>
              <a:t>Meta-prompting: пусть модель пишет промт сама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40280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04872"/>
            <a:ext cx="731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6B35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423160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Calibri"/>
              </a:rPr>
              <a:t>Self-Consistency и Tree-of-Thought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240280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404872"/>
            <a:ext cx="731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6B35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423160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Calibri"/>
              </a:rPr>
              <a:t>Контрастные пары и негативные примеры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08960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73552"/>
            <a:ext cx="731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6B35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291840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Calibri"/>
              </a:rPr>
              <a:t>Role-Persona-Task-Format (RPTF)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108960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273552"/>
            <a:ext cx="731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6B35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291840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Calibri"/>
              </a:rPr>
              <a:t>Least-to-Most и декомпозиция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977639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142231"/>
            <a:ext cx="731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6B35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160519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Calibri"/>
              </a:rPr>
              <a:t>Скрытые управляющие токены и анкеры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977639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142231"/>
            <a:ext cx="731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6B35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160519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Calibri"/>
              </a:rPr>
              <a:t>Калибровка через self-critique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846320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010912"/>
            <a:ext cx="731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6B35"/>
                </a:solidFill>
                <a:latin typeface="Calibr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029200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Calibri"/>
              </a:rPr>
              <a:t>Чек-лист и шпаргалка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Calibri"/>
              </a:rPr>
              <a:t>Почему обычные промты проваливаются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1188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2800" b="1">
                <a:solidFill>
                  <a:srgbClr val="FF6B35"/>
                </a:solidFill>
                <a:latin typeface="Calibr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1905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37160" cy="10972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4ECDC4"/>
                </a:solidFill>
                <a:latin typeface="Calibri"/>
              </a:rPr>
              <a:t>Размытая роль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B0B8C4"/>
                </a:solidFill>
                <a:latin typeface="Calibri"/>
              </a:rPr>
              <a:t>«Ты эксперт» — слишком общо. Модель не знает, в чьём стиле отвечать.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5176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51760"/>
            <a:ext cx="137160" cy="109728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2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4ECDC4"/>
                </a:solidFill>
                <a:latin typeface="Calibri"/>
              </a:rPr>
              <a:t>Нет критериев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B0B8C4"/>
                </a:solidFill>
                <a:latin typeface="Calibri"/>
              </a:rPr>
              <a:t>Без явных критериев успеха модель оптимизирует поверхностный фит.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886200"/>
            <a:ext cx="137160" cy="10972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50792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4ECDC4"/>
                </a:solidFill>
                <a:latin typeface="Calibri"/>
              </a:rPr>
              <a:t>Один проход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348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B0B8C4"/>
                </a:solidFill>
                <a:latin typeface="Calibri"/>
              </a:rPr>
              <a:t>Сложные задачи требуют итерации, а не одного выстрела.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120640"/>
            <a:ext cx="137160" cy="109728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285232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4ECDC4"/>
                </a:solidFill>
                <a:latin typeface="Calibri"/>
              </a:rPr>
              <a:t>Скрытые ассоциации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6928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B0B8C4"/>
                </a:solidFill>
                <a:latin typeface="Calibri"/>
              </a:rPr>
              <a:t>Случайные слова в промте уводят распределение ответа в сторону.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Calibri"/>
              </a:rPr>
              <a:t>Meta-prompting: модель пишет промт сама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1188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2800" b="1">
                <a:solidFill>
                  <a:srgbClr val="FF6B35"/>
                </a:solidFill>
                <a:latin typeface="Calibr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1905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B0B8C4"/>
                </a:solidFill>
                <a:latin typeface="Calibri"/>
              </a:rPr>
              <a:t>Идея: вместо того чтобы шлифовать промт руками, попросите модель его улучшить.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Calibri"/>
              </a:rPr>
              <a:t>Обычный подход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50292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Calibri"/>
              </a:rPr>
              <a:t>«Напиши статью про SaaS-продажи»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Calibri"/>
              </a:rPr>
              <a:t>→ Получаем общий текст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Calibri"/>
              </a:rPr>
              <a:t>→ Правим промт вручную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Calibri"/>
              </a:rPr>
              <a:t>→ 5–10 итераций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Calibri"/>
              </a:rPr>
              <a:t>→ Тратим часы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4ECDC4"/>
                </a:solidFill>
                <a:latin typeface="Calibri"/>
              </a:rPr>
              <a:t>Meta-prompt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606040"/>
            <a:ext cx="521208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«Ты — эксперт по промт-инженерингу.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Вот моя задача: [...].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Сначала задай мне 5 уточняющих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вопросов, затем составь идеальный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промт под мою задачу с критериями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успеха и форматом вывода.»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Calibri"/>
              </a:rPr>
              <a:t>Self-Consistency и Tree-of-Thought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1188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2800" b="1">
                <a:solidFill>
                  <a:srgbClr val="FF6B35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1905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B0B8C4"/>
                </a:solidFill>
                <a:latin typeface="Calibri"/>
              </a:rPr>
              <a:t>Не доверяйте первому ответу. Сэмплируйте несколько и выбирайте консенсус.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657600" cy="914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32918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Calibri"/>
              </a:rPr>
              <a:t>Self-Consistency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329184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Запустите промт N раз с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temperature &gt; 0. Возьмите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ответ, встретившийся чаще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всего. Точность на матема-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тике вырастает на 10–20%.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92024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920240"/>
            <a:ext cx="3657600" cy="9144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48840"/>
            <a:ext cx="32918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4ECDC4"/>
                </a:solidFill>
                <a:latin typeface="Calibri"/>
              </a:rPr>
              <a:t>Tree-of-Thought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88920"/>
            <a:ext cx="329184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Модель явно ветвит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рассуждение: генерирует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3 гипотезы, оценивает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каждую, выбирает лучшую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и продолжает.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92024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920240"/>
            <a:ext cx="3657600" cy="914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148840"/>
            <a:ext cx="32918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Calibri"/>
              </a:rPr>
              <a:t>Когда применять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788920"/>
            <a:ext cx="329184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Логика, математика,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диагностика, juridical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reasoning — везде, где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цена ошибки выше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стоимости вызовов.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Calibri"/>
              </a:rPr>
              <a:t>Контрастные пары: показать, как НЕ надо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1188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2800" b="1">
                <a:solidFill>
                  <a:srgbClr val="FF6B35"/>
                </a:solidFill>
                <a:latin typeface="Calibr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1905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B0B8C4"/>
                </a:solidFill>
                <a:latin typeface="Calibri"/>
              </a:rPr>
              <a:t>Few-shot становится в 2–3 раза эффективнее, если рядом с примером «как надо» есть «как не надо».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74C3C"/>
                </a:solidFill>
                <a:latin typeface="Calibri"/>
              </a:rPr>
              <a:t>✕ Плохой пример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50292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Вход: «Объясни рекурсию»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Выход: «Рекурсия — это когда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функция вызывает сама себя.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Вот пример на Python...»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Почему плохо: жаргон сразу,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нет аналогии, нет проверки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понимания.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4884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4ECDC4"/>
                </a:solidFill>
                <a:latin typeface="Calibri"/>
              </a:rPr>
              <a:t>✓ Хороший пример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697480"/>
            <a:ext cx="50292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Вход: «Объясни рекурсию»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Выход: «Представь матрёшку: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открываешь — внутри такая же,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но меньше. Открываешь её —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снова такая же. Так и функция…»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Затем: код + вопрос на проверку.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Calibri"/>
              </a:rPr>
              <a:t>Role · Persona · Task ·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1188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2800" b="1">
                <a:solidFill>
                  <a:srgbClr val="FF6B35"/>
                </a:solidFill>
                <a:latin typeface="Calibr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1905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B0B8C4"/>
                </a:solidFill>
                <a:latin typeface="Calibri"/>
              </a:rPr>
              <a:t>Каркас, который превращает любой запрос в воспроизводимый промт.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5029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FF6B35"/>
                </a:solidFill>
                <a:latin typeface="Calibri"/>
              </a:rPr>
              <a:t>R —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50292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Calibri"/>
              </a:rPr>
              <a:t>Кто отвечает: домен, опыт, специализация.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5029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4ECDC4"/>
                </a:solidFill>
                <a:latin typeface="Calibri"/>
              </a:rPr>
              <a:t>P — Persona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97480"/>
            <a:ext cx="50292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Calibri"/>
              </a:rPr>
              <a:t>Стиль и тон: для кого пишем, какой регистр.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5029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FF6B35"/>
                </a:solidFill>
                <a:latin typeface="Calibri"/>
              </a:rPr>
              <a:t>T —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92040"/>
            <a:ext cx="50292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Calibri"/>
              </a:rPr>
              <a:t>Точная задача с критериями успеха и ограничениями.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023360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206240"/>
            <a:ext cx="5029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4ECDC4"/>
                </a:solidFill>
                <a:latin typeface="Calibri"/>
              </a:rPr>
              <a:t>F — Format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892040"/>
            <a:ext cx="50292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Calibri"/>
              </a:rPr>
              <a:t>Жёсткий формат вывода: JSON, таблица, секции.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Calibri"/>
              </a:rPr>
              <a:t>Least-to-Most: декомпозиция вместо штурма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1188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2800" b="1">
                <a:solidFill>
                  <a:srgbClr val="FF6B35"/>
                </a:solidFill>
                <a:latin typeface="Calibr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1905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B0B8C4"/>
                </a:solidFill>
                <a:latin typeface="Calibri"/>
              </a:rPr>
              <a:t>Сначала просим модель разбить задачу на под-задачи. Затем решаем каждую отдельно.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3657600" cy="420624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Calibri"/>
              </a:rPr>
              <a:t>Шаг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3200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  <a:latin typeface="Calibri"/>
              </a:rPr>
              <a:t>Разложить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320040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B0B8C4"/>
                </a:solidFill>
                <a:latin typeface="Calibri"/>
              </a:rPr>
              <a:t>«Перечисли под-задачи,</a:t>
            </a:r>
          </a:p>
          <a:p>
            <a:pPr algn="l"/>
            <a:r>
              <a:rPr sz="1400" b="0">
                <a:solidFill>
                  <a:srgbClr val="B0B8C4"/>
                </a:solidFill>
                <a:latin typeface="Calibri"/>
              </a:rPr>
              <a:t>которые нужно решить.»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14800" y="3840480"/>
            <a:ext cx="365760" cy="365760"/>
          </a:xfrm>
          <a:prstGeom prst="rightArrow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2011680"/>
            <a:ext cx="3657600" cy="420624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19456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Calibri"/>
              </a:rPr>
              <a:t>Шаг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51760"/>
            <a:ext cx="3200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  <a:latin typeface="Calibri"/>
              </a:rPr>
              <a:t>Решить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383280"/>
            <a:ext cx="320040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B0B8C4"/>
                </a:solidFill>
                <a:latin typeface="Calibri"/>
              </a:rPr>
              <a:t>Для каждой под-задачи —</a:t>
            </a:r>
          </a:p>
          <a:p>
            <a:pPr algn="l"/>
            <a:r>
              <a:rPr sz="1400" b="0">
                <a:solidFill>
                  <a:srgbClr val="B0B8C4"/>
                </a:solidFill>
                <a:latin typeface="Calibri"/>
              </a:rPr>
              <a:t>отдельный фокусированный</a:t>
            </a:r>
          </a:p>
          <a:p>
            <a:pPr algn="l"/>
            <a:r>
              <a:rPr sz="1400" b="0">
                <a:solidFill>
                  <a:srgbClr val="B0B8C4"/>
                </a:solidFill>
                <a:latin typeface="Calibri"/>
              </a:rPr>
              <a:t>промт.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09560" y="3840480"/>
            <a:ext cx="365760" cy="365760"/>
          </a:xfrm>
          <a:prstGeom prst="rightArrow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2011680"/>
            <a:ext cx="3657600" cy="420624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19456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Calibri"/>
              </a:rPr>
              <a:t>Шаг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651760"/>
            <a:ext cx="3200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  <a:latin typeface="Calibri"/>
              </a:rPr>
              <a:t>Собрать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383280"/>
            <a:ext cx="320040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B0B8C4"/>
                </a:solidFill>
                <a:latin typeface="Calibri"/>
              </a:rPr>
              <a:t>Объединить ответы и</a:t>
            </a:r>
          </a:p>
          <a:p>
            <a:pPr algn="l"/>
            <a:r>
              <a:rPr sz="1400" b="0">
                <a:solidFill>
                  <a:srgbClr val="B0B8C4"/>
                </a:solidFill>
                <a:latin typeface="Calibri"/>
              </a:rPr>
              <a:t>попросить модель проверить</a:t>
            </a:r>
          </a:p>
          <a:p>
            <a:pPr algn="l"/>
            <a:r>
              <a:rPr sz="1400" b="0">
                <a:solidFill>
                  <a:srgbClr val="B0B8C4"/>
                </a:solidFill>
                <a:latin typeface="Calibri"/>
              </a:rPr>
              <a:t>консистентность.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Calibri"/>
              </a:rPr>
              <a:t>Скрытые управляющие анкеры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1188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2800" b="1">
                <a:solidFill>
                  <a:srgbClr val="FF6B35"/>
                </a:solidFill>
                <a:latin typeface="Calibr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1905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1155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B0B8C4"/>
                </a:solidFill>
                <a:latin typeface="Calibri"/>
              </a:rPr>
              <a:t>Малоизвестный приём: использовать XML-теги и якорные фразы как «ручки» для модели.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1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ECDC4"/>
                </a:solidFill>
                <a:latin typeface="Consolas"/>
              </a:rPr>
              <a:t>&lt;context&gt;…&lt;/context&gt;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39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Изолируйте входные данные от инструкций — модель перестаёт путать их.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7180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90672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ECDC4"/>
                </a:solidFill>
                <a:latin typeface="Consolas"/>
              </a:rPr>
              <a:t>&lt;thinking&gt;…&lt;/thinking&gt;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Зарезервированное место для рассуждений, которое можно потом скрыть от пользователя.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9079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87951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ECDC4"/>
                </a:solidFill>
                <a:latin typeface="Consolas"/>
              </a:rPr>
              <a:t>«Подумай шаг за шагом, прежде чем отвечать»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71999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Классический CoT-якорь — даёт +5–15% точности на reasoning-бенчмарках.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166359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285231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ECDC4"/>
                </a:solidFill>
                <a:latin typeface="Consolas"/>
              </a:rPr>
              <a:t>«Если не уверен — скажи I don't know»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69279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Calibri"/>
              </a:rPr>
              <a:t>Снижает галлюцинации на фактологических задачах в 2–3 раза.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Calibri"/>
              </a:rPr>
              <a:t>Self-Critique: модель сама себе редактор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1188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2800" b="1">
                <a:solidFill>
                  <a:srgbClr val="FF6B35"/>
                </a:solidFill>
                <a:latin typeface="Calibri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1905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1155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B0B8C4"/>
                </a:solidFill>
                <a:latin typeface="Calibri"/>
              </a:rPr>
              <a:t>Двухпроходная схема даёт результат сравнимый с GPT-уровнем выше — без смены модели.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3657600" cy="420624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3657600" cy="1097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Calibri"/>
              </a:rPr>
              <a:t>Проход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32004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Calibri"/>
              </a:rPr>
              <a:t>Generate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32004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B0B8C4"/>
                </a:solidFill>
                <a:latin typeface="Calibri"/>
              </a:rPr>
              <a:t>Обычный ответ</a:t>
            </a:r>
          </a:p>
          <a:p>
            <a:pPr algn="l"/>
            <a:r>
              <a:rPr sz="1500" b="0">
                <a:solidFill>
                  <a:srgbClr val="B0B8C4"/>
                </a:solidFill>
                <a:latin typeface="Calibri"/>
              </a:rPr>
              <a:t>на задачу без</a:t>
            </a:r>
          </a:p>
          <a:p>
            <a:pPr algn="l"/>
            <a:r>
              <a:rPr sz="1500" b="0">
                <a:solidFill>
                  <a:srgbClr val="B0B8C4"/>
                </a:solidFill>
                <a:latin typeface="Calibri"/>
              </a:rPr>
              <a:t>самокритики.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011680"/>
            <a:ext cx="3657600" cy="420624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011680"/>
            <a:ext cx="3657600" cy="109728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28600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4ECDC4"/>
                </a:solidFill>
                <a:latin typeface="Calibri"/>
              </a:rPr>
              <a:t>Проход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743200"/>
            <a:ext cx="32004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Calibri"/>
              </a:rPr>
              <a:t>Critique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566160"/>
            <a:ext cx="32004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B0B8C4"/>
                </a:solidFill>
                <a:latin typeface="Calibri"/>
              </a:rPr>
              <a:t>«Найди 3 слабости</a:t>
            </a:r>
          </a:p>
          <a:p>
            <a:pPr algn="l"/>
            <a:r>
              <a:rPr sz="1500" b="0">
                <a:solidFill>
                  <a:srgbClr val="B0B8C4"/>
                </a:solidFill>
                <a:latin typeface="Calibri"/>
              </a:rPr>
              <a:t>в своём ответе.</a:t>
            </a:r>
          </a:p>
          <a:p>
            <a:pPr algn="l"/>
            <a:r>
              <a:rPr sz="1500" b="0">
                <a:solidFill>
                  <a:srgbClr val="B0B8C4"/>
                </a:solidFill>
                <a:latin typeface="Calibri"/>
              </a:rPr>
              <a:t>Будь беспощаден.»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011680"/>
            <a:ext cx="3657600" cy="420624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2011680"/>
            <a:ext cx="3657600" cy="1097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28600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Calibri"/>
              </a:rPr>
              <a:t>Проход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743200"/>
            <a:ext cx="32004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Calibri"/>
              </a:rPr>
              <a:t>Revise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566160"/>
            <a:ext cx="32004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B0B8C4"/>
                </a:solidFill>
                <a:latin typeface="Calibri"/>
              </a:rPr>
              <a:t>«Перепиши ответ,</a:t>
            </a:r>
          </a:p>
          <a:p>
            <a:pPr algn="l"/>
            <a:r>
              <a:rPr sz="1500" b="0">
                <a:solidFill>
                  <a:srgbClr val="B0B8C4"/>
                </a:solidFill>
                <a:latin typeface="Calibri"/>
              </a:rPr>
              <a:t>устранив все</a:t>
            </a:r>
          </a:p>
          <a:p>
            <a:pPr algn="l"/>
            <a:r>
              <a:rPr sz="1500" b="0">
                <a:solidFill>
                  <a:srgbClr val="B0B8C4"/>
                </a:solidFill>
                <a:latin typeface="Calibri"/>
              </a:rPr>
              <a:t>найденные слабости.»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9144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Calibri"/>
              </a:rPr>
              <a:t>Чек-лист на каждый день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1188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2800" b="1">
                <a:solidFill>
                  <a:srgbClr val="FF6B35"/>
                </a:solidFill>
                <a:latin typeface="Calibri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1905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73352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0F141E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673352"/>
            <a:ext cx="4572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Calibri"/>
              </a:rPr>
              <a:t>Используйте каркас RPTF (Role · Persona · Task · Format)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1691640"/>
            <a:ext cx="457200" cy="45720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673352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0F141E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673352"/>
            <a:ext cx="4572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Calibri"/>
              </a:rPr>
              <a:t>Просите модель сначала задать уточняющие вопросы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60320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2834640"/>
            <a:ext cx="457200" cy="45720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816352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0F141E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816352"/>
            <a:ext cx="4572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Calibri"/>
              </a:rPr>
              <a:t>Изолируйте данные XML-тегами &lt;context&gt;, &lt;example&gt;, &lt;thinking&gt;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560320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834640"/>
            <a:ext cx="457200" cy="45720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816352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0F141E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816352"/>
            <a:ext cx="4572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Calibri"/>
              </a:rPr>
              <a:t>Для логики — Self-Consistency: 3–5 сэмплов с temperature 0.7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03320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959352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0F141E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959352"/>
            <a:ext cx="4572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Calibri"/>
              </a:rPr>
              <a:t>Для творчества — контрастные пары «как надо / как не надо»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703320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3977640"/>
            <a:ext cx="457200" cy="45720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3959352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0F141E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959352"/>
            <a:ext cx="4572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Calibri"/>
              </a:rPr>
              <a:t>Сложные задачи бейте Least-to-Most на под-задачи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846320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7240" y="5120640"/>
            <a:ext cx="457200" cy="45720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102352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0F141E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102352"/>
            <a:ext cx="4572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Calibri"/>
              </a:rPr>
              <a:t>Финальный проход — Self-Critique: найди 3 слабости и перепиши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846320"/>
            <a:ext cx="5486400" cy="960120"/>
          </a:xfrm>
          <a:prstGeom prst="roundRect">
            <a:avLst>
              <a:gd name="adj" fmla="val 8000"/>
            </a:avLst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46520" y="5120640"/>
            <a:ext cx="457200" cy="457200"/>
          </a:xfrm>
          <a:prstGeom prst="ellipse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3952" y="5102352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0F141E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5102352"/>
            <a:ext cx="4572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Calibri"/>
              </a:rPr>
              <a:t>Явно разрешайте «I don't know» — это снижает галлюцинации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800" b="1">
                <a:solidFill>
                  <a:srgbClr val="F5F5F5"/>
                </a:solidFill>
                <a:latin typeface="Calibri"/>
              </a:rPr>
              <a:t>Промт — это интерфейс к модели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0">
                <a:solidFill>
                  <a:srgbClr val="4ECDC4"/>
                </a:solidFill>
                <a:latin typeface="Calibri"/>
              </a:rPr>
              <a:t>Чем точнее интерфейс — тем мощнее результат.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B0B8C4"/>
                </a:solidFill>
                <a:latin typeface="Calibri"/>
              </a:rPr>
              <a:t>Спасибо. 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